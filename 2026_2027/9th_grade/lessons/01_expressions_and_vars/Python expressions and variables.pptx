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1" r:id="rId7"/>
    <p:sldId id="260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9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l weiss" userId="ff095f0081eac204" providerId="LiveId" clId="{B505B199-3B51-4F5C-A8F9-E941B81B90D8}"/>
    <pc:docChg chg="custSel addSld delSld modSld sldOrd">
      <pc:chgData name="gal weiss" userId="ff095f0081eac204" providerId="LiveId" clId="{B505B199-3B51-4F5C-A8F9-E941B81B90D8}" dt="2026-09-15T22:22:38.447" v="387" actId="14734"/>
      <pc:docMkLst>
        <pc:docMk/>
      </pc:docMkLst>
      <pc:sldChg chg="addSp delSp modSp new mod ord">
        <pc:chgData name="gal weiss" userId="ff095f0081eac204" providerId="LiveId" clId="{B505B199-3B51-4F5C-A8F9-E941B81B90D8}" dt="2026-09-15T22:22:38.447" v="387" actId="14734"/>
        <pc:sldMkLst>
          <pc:docMk/>
          <pc:sldMk cId="389957681" sldId="266"/>
        </pc:sldMkLst>
        <pc:spChg chg="mod">
          <ac:chgData name="gal weiss" userId="ff095f0081eac204" providerId="LiveId" clId="{B505B199-3B51-4F5C-A8F9-E941B81B90D8}" dt="2026-09-15T22:04:03.045" v="36" actId="20577"/>
          <ac:spMkLst>
            <pc:docMk/>
            <pc:sldMk cId="389957681" sldId="266"/>
            <ac:spMk id="2" creationId="{12CE834A-E9BA-4090-1D71-5C8E5C63F3A5}"/>
          </ac:spMkLst>
        </pc:spChg>
        <pc:graphicFrameChg chg="add mod modGraphic">
          <ac:chgData name="gal weiss" userId="ff095f0081eac204" providerId="LiveId" clId="{B505B199-3B51-4F5C-A8F9-E941B81B90D8}" dt="2026-09-15T22:22:38.447" v="387" actId="14734"/>
          <ac:graphicFrameMkLst>
            <pc:docMk/>
            <pc:sldMk cId="389957681" sldId="266"/>
            <ac:graphicFrameMk id="5" creationId="{C3A69D67-EF0A-1967-9277-7C254B5E1350}"/>
          </ac:graphicFrameMkLst>
        </pc:graphicFrameChg>
        <pc:picChg chg="add del">
          <ac:chgData name="gal weiss" userId="ff095f0081eac204" providerId="LiveId" clId="{B505B199-3B51-4F5C-A8F9-E941B81B90D8}" dt="2026-09-15T22:07:38.419" v="38" actId="478"/>
          <ac:picMkLst>
            <pc:docMk/>
            <pc:sldMk cId="389957681" sldId="266"/>
            <ac:picMk id="4" creationId="{BAFB9F47-2CDA-A291-EF2C-A9D58233F1A6}"/>
          </ac:picMkLst>
        </pc:picChg>
      </pc:sldChg>
      <pc:sldChg chg="modSp new del mod">
        <pc:chgData name="gal weiss" userId="ff095f0081eac204" providerId="LiveId" clId="{B505B199-3B51-4F5C-A8F9-E941B81B90D8}" dt="2026-09-15T21:34:08.553" v="27" actId="2696"/>
        <pc:sldMkLst>
          <pc:docMk/>
          <pc:sldMk cId="831547476" sldId="266"/>
        </pc:sldMkLst>
        <pc:spChg chg="mod">
          <ac:chgData name="gal weiss" userId="ff095f0081eac204" providerId="LiveId" clId="{B505B199-3B51-4F5C-A8F9-E941B81B90D8}" dt="2026-09-15T21:12:35.213" v="26" actId="20577"/>
          <ac:spMkLst>
            <pc:docMk/>
            <pc:sldMk cId="831547476" sldId="266"/>
            <ac:spMk id="2" creationId="{1840AD14-6AFE-590B-7A1D-BE8E99DC0C1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B982F-5A3F-558D-868F-93C8266FA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EA9E9-807F-A9A2-DC11-95C83DE4B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5591F-2E6C-325C-212B-0B852A9A6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736E7-F0CB-4964-95EF-3521B33444F6}" type="datetimeFigureOut">
              <a:rPr lang="en-IL" smtClean="0"/>
              <a:t>16/09/2026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0D3D0-FF95-4F92-6AB9-57261E25A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CFFD0-E7E2-67C3-F5E4-9CA420E75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4992-9BA4-4CBD-8FF4-B1E66F7E91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12845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2E4C5-9AA4-C81B-02B3-E84FC1E6A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E0EB6-3AC9-6B34-E63E-D322FDCC8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18EB4-1118-D482-5F15-D17B2BE2E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736E7-F0CB-4964-95EF-3521B33444F6}" type="datetimeFigureOut">
              <a:rPr lang="en-IL" smtClean="0"/>
              <a:t>16/09/2026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A487E-A1CF-55B2-DE76-73E3736EB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6F11A-6CD8-B0A2-3CD0-73A60E3BB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4992-9BA4-4CBD-8FF4-B1E66F7E91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94574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AF57-3E96-D9ED-429E-8682A4127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1F0D8-AE4E-A9BF-5A55-F2ED62B25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22CDF-940A-CDE4-C81B-30480B33F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736E7-F0CB-4964-95EF-3521B33444F6}" type="datetimeFigureOut">
              <a:rPr lang="en-IL" smtClean="0"/>
              <a:t>16/09/2026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53E69-0CF1-A8B0-C6A5-B0ABFE8F4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CD1B0-8C50-52AE-47CF-C7759D40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4992-9BA4-4CBD-8FF4-B1E66F7E91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73305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754BB-FE1E-5445-5095-751C438B3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51098-04F4-D805-C1B7-896157D190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2E02A-FEA5-A114-5BD4-6CD307BB1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7D24B-593B-D565-C43B-17E9E3796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736E7-F0CB-4964-95EF-3521B33444F6}" type="datetimeFigureOut">
              <a:rPr lang="en-IL" smtClean="0"/>
              <a:t>16/09/2026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79EFC-6CC3-A461-B3F0-8B622A21E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36ECF-F5D4-A57B-AE60-21CC053B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4992-9BA4-4CBD-8FF4-B1E66F7E91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86163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F85C2-6898-8532-BE35-27A22FB19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820E5-1332-A3B7-A862-7A24A8B7C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BABD8-6EAC-E602-1E1F-ECB56B88D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4B0327-1A6F-393F-23DE-CF20C5C1F9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B6EC2-B659-8301-2529-8C48A6D9D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537009-862E-C93E-164A-0F613908F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736E7-F0CB-4964-95EF-3521B33444F6}" type="datetimeFigureOut">
              <a:rPr lang="en-IL" smtClean="0"/>
              <a:t>16/09/2026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E533E2-7760-4215-21BA-395DBC1A3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43FBDD-CF99-2828-FD2C-8826A0F8F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4992-9BA4-4CBD-8FF4-B1E66F7E91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71184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4ED7-CEAE-69A2-48A1-D7E999D0E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543438-A7B4-D9C7-E529-BC3646CAA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736E7-F0CB-4964-95EF-3521B33444F6}" type="datetimeFigureOut">
              <a:rPr lang="en-IL" smtClean="0"/>
              <a:t>16/09/2026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3DE9CD-6A19-9B5A-37C1-8C99DC5DD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93AA06-7CC6-2F78-9B14-71FC8E53A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4992-9BA4-4CBD-8FF4-B1E66F7E91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53493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C10A9C-7C68-4442-5DB4-01A4EED0F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736E7-F0CB-4964-95EF-3521B33444F6}" type="datetimeFigureOut">
              <a:rPr lang="en-IL" smtClean="0"/>
              <a:t>16/09/2026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6A2D1-19CC-4068-9E43-484C4B12F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095B9-8BA9-972E-E28E-D540615B9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4992-9BA4-4CBD-8FF4-B1E66F7E91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3240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95A25-839E-031C-B96C-A08047B73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ACD24-3889-6226-3C50-4C716BFE5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8FA6B-8C1F-026C-4B19-143632A3E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C8633-CF94-CB58-765F-3E90055AE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736E7-F0CB-4964-95EF-3521B33444F6}" type="datetimeFigureOut">
              <a:rPr lang="en-IL" smtClean="0"/>
              <a:t>16/09/2026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FEAA8-2923-96E1-8A7C-F1E5C5765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84AE0-3B50-3337-4580-476F03666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4992-9BA4-4CBD-8FF4-B1E66F7E91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8050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DC724-43D1-8093-7B63-998C345F2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FE41C0-38CE-7B7D-A613-F951584EA4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1DA1B-B750-9F05-4662-4332FF055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1B3F82-41F8-3BF2-90F6-655BD0637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736E7-F0CB-4964-95EF-3521B33444F6}" type="datetimeFigureOut">
              <a:rPr lang="en-IL" smtClean="0"/>
              <a:t>16/09/2026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A9E39-CE9C-2119-38EF-FDE218411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5729F-52E2-E52C-4057-F79624306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4992-9BA4-4CBD-8FF4-B1E66F7E91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4629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22823-EEAD-2D6F-3EE8-639889250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4B5FB-D9FE-BCD7-8FFB-FB7C8319E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8FBC7-2D75-EC72-6C3E-94684A0B7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736E7-F0CB-4964-95EF-3521B33444F6}" type="datetimeFigureOut">
              <a:rPr lang="en-IL" smtClean="0"/>
              <a:t>16/09/2026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8F29C-CFB2-AA70-F08B-E5B2B65F0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8938F-A8F6-8765-E17E-E72CD3D14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4992-9BA4-4CBD-8FF4-B1E66F7E91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47039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EB2B8-CD98-F866-A1E9-A711D82C55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68F4C5-904E-5B14-DD83-8A83B20C9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F0028-AEBD-A36D-A08F-EB09A69B2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736E7-F0CB-4964-95EF-3521B33444F6}" type="datetimeFigureOut">
              <a:rPr lang="en-IL" smtClean="0"/>
              <a:t>16/09/2026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D714F-FB3E-9C9E-8613-7511A6D42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4A2B7-C679-CF91-6CBB-58C8B3F18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4992-9BA4-4CBD-8FF4-B1E66F7E91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39473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2C77D0-899E-EEEB-949E-53402E75D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3069E-A317-0F60-40D1-0C3432B59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030A2-4CD7-5AAF-A7A0-BAC70B4520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736E7-F0CB-4964-95EF-3521B33444F6}" type="datetimeFigureOut">
              <a:rPr lang="en-IL" smtClean="0"/>
              <a:t>16/09/2026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70D38-6596-248C-AC07-B004D54A6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72A5F-2902-AF04-A9C7-38902AB12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B4992-9BA4-4CBD-8FF4-B1E66F7E91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61254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B91F9-C69F-1AE1-B8F3-8E08DBF2E9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b="1" dirty="0"/>
              <a:t>expressions</a:t>
            </a:r>
            <a:r>
              <a:rPr lang="en-US" dirty="0"/>
              <a:t> and </a:t>
            </a:r>
            <a:r>
              <a:rPr lang="en-US" b="1" dirty="0"/>
              <a:t>variables</a:t>
            </a:r>
            <a:endParaRPr lang="en-IL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3FB6E1-4E93-1485-6722-F392885DCC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52084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2DA5C-E603-1210-6915-B3FB29585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  <a:endParaRPr lang="en-IL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A2AC0E-C315-7389-D511-006D90EC1D43}"/>
              </a:ext>
            </a:extLst>
          </p:cNvPr>
          <p:cNvSpPr/>
          <p:nvPr/>
        </p:nvSpPr>
        <p:spPr>
          <a:xfrm>
            <a:off x="3087149" y="3733101"/>
            <a:ext cx="4731391" cy="124157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Miriam Fixed" panose="020B0509050101010101" pitchFamily="49" charset="-79"/>
                <a:cs typeface="Miriam Fixed" panose="020B0509050101010101" pitchFamily="49" charset="-79"/>
              </a:rPr>
              <a:t>print(1+2)</a:t>
            </a:r>
            <a:endParaRPr lang="en-IL" sz="3600" dirty="0">
              <a:solidFill>
                <a:schemeClr val="accent6">
                  <a:lumMod val="50000"/>
                </a:schemeClr>
              </a:solidFill>
              <a:latin typeface="Miriam Fixed" panose="020B0509050101010101" pitchFamily="49" charset="-79"/>
              <a:cs typeface="Miriam Fixed" panose="020B0509050101010101" pitchFamily="49" charset="-79"/>
            </a:endParaRP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167091AA-1657-6067-FB8B-C27DA94762E2}"/>
              </a:ext>
            </a:extLst>
          </p:cNvPr>
          <p:cNvCxnSpPr>
            <a:cxnSpLocks/>
            <a:endCxn id="15" idx="2"/>
          </p:cNvCxnSpPr>
          <p:nvPr/>
        </p:nvCxnSpPr>
        <p:spPr>
          <a:xfrm rot="10800000">
            <a:off x="3900880" y="2140082"/>
            <a:ext cx="2195120" cy="197052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AF07AC6-5626-F7FC-EBE8-B004DC7604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749737"/>
              </p:ext>
            </p:extLst>
          </p:nvPr>
        </p:nvGraphicFramePr>
        <p:xfrm>
          <a:off x="2684476" y="1466396"/>
          <a:ext cx="2432808" cy="67368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10936">
                  <a:extLst>
                    <a:ext uri="{9D8B030D-6E8A-4147-A177-3AD203B41FA5}">
                      <a16:colId xmlns:a16="http://schemas.microsoft.com/office/drawing/2014/main" val="1833734973"/>
                    </a:ext>
                  </a:extLst>
                </a:gridCol>
                <a:gridCol w="810936">
                  <a:extLst>
                    <a:ext uri="{9D8B030D-6E8A-4147-A177-3AD203B41FA5}">
                      <a16:colId xmlns:a16="http://schemas.microsoft.com/office/drawing/2014/main" val="1655350596"/>
                    </a:ext>
                  </a:extLst>
                </a:gridCol>
                <a:gridCol w="810936">
                  <a:extLst>
                    <a:ext uri="{9D8B030D-6E8A-4147-A177-3AD203B41FA5}">
                      <a16:colId xmlns:a16="http://schemas.microsoft.com/office/drawing/2014/main" val="2001210158"/>
                    </a:ext>
                  </a:extLst>
                </a:gridCol>
              </a:tblGrid>
              <a:tr h="30792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Value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Operator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Value</a:t>
                      </a:r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371660"/>
                  </a:ext>
                </a:extLst>
              </a:tr>
              <a:tr h="3079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259388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9FC95C8-89C5-99A9-D4A4-B455426C0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552708"/>
              </p:ext>
            </p:extLst>
          </p:nvPr>
        </p:nvGraphicFramePr>
        <p:xfrm>
          <a:off x="6963560" y="1466396"/>
          <a:ext cx="810936" cy="67368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10936">
                  <a:extLst>
                    <a:ext uri="{9D8B030D-6E8A-4147-A177-3AD203B41FA5}">
                      <a16:colId xmlns:a16="http://schemas.microsoft.com/office/drawing/2014/main" val="1833734973"/>
                    </a:ext>
                  </a:extLst>
                </a:gridCol>
              </a:tblGrid>
              <a:tr h="30792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Value</a:t>
                      </a:r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371660"/>
                  </a:ext>
                </a:extLst>
              </a:tr>
              <a:tr h="3079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259388"/>
                  </a:ext>
                </a:extLst>
              </a:tr>
            </a:tbl>
          </a:graphicData>
        </a:graphic>
      </p:graphicFrame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02641960-E41A-43D8-EA55-5D8A6891CD8C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5117284" y="1803238"/>
            <a:ext cx="1846276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5E0D817-D509-B3A8-985A-33E653B074E2}"/>
              </a:ext>
            </a:extLst>
          </p:cNvPr>
          <p:cNvSpPr txBox="1"/>
          <p:nvPr/>
        </p:nvSpPr>
        <p:spPr>
          <a:xfrm>
            <a:off x="5460536" y="1466396"/>
            <a:ext cx="127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evaluation</a:t>
            </a:r>
            <a:endParaRPr lang="en-IL" dirty="0"/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8C8CB54A-0E3E-2706-51A6-1994E7044FA5}"/>
              </a:ext>
            </a:extLst>
          </p:cNvPr>
          <p:cNvCxnSpPr>
            <a:cxnSpLocks/>
            <a:stCxn id="19" idx="2"/>
          </p:cNvCxnSpPr>
          <p:nvPr/>
        </p:nvCxnSpPr>
        <p:spPr>
          <a:xfrm rot="5400000">
            <a:off x="5794789" y="2536368"/>
            <a:ext cx="1970527" cy="117795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A5E373F-18EF-9512-DA8B-1AF76A901329}"/>
              </a:ext>
            </a:extLst>
          </p:cNvPr>
          <p:cNvSpPr/>
          <p:nvPr/>
        </p:nvSpPr>
        <p:spPr>
          <a:xfrm>
            <a:off x="3239549" y="3885501"/>
            <a:ext cx="4731391" cy="124157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Miriam Fixed" panose="020B0509050101010101" pitchFamily="49" charset="-79"/>
                <a:cs typeface="Miriam Fixed" panose="020B0509050101010101" pitchFamily="49" charset="-79"/>
              </a:rPr>
              <a:t>print(3)</a:t>
            </a:r>
            <a:endParaRPr lang="en-IL" sz="3600" dirty="0">
              <a:solidFill>
                <a:schemeClr val="accent6">
                  <a:lumMod val="50000"/>
                </a:schemeClr>
              </a:solidFill>
              <a:latin typeface="Miriam Fixed" panose="020B0509050101010101" pitchFamily="49" charset="-79"/>
              <a:cs typeface="Miriam Fixed" panose="020B0509050101010101" pitchFamily="49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93113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2DA5C-E603-1210-6915-B3FB29585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Precedence</a:t>
            </a:r>
            <a:endParaRPr lang="en-IL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A2AC0E-C315-7389-D511-006D90EC1D43}"/>
              </a:ext>
            </a:extLst>
          </p:cNvPr>
          <p:cNvSpPr/>
          <p:nvPr/>
        </p:nvSpPr>
        <p:spPr>
          <a:xfrm>
            <a:off x="3043105" y="3714108"/>
            <a:ext cx="4731391" cy="124157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Miriam Fixed" panose="020B0509050101010101" pitchFamily="49" charset="-79"/>
                <a:cs typeface="Miriam Fixed" panose="020B0509050101010101" pitchFamily="49" charset="-79"/>
              </a:rPr>
              <a:t>print(1+2*2)</a:t>
            </a:r>
            <a:endParaRPr lang="en-IL" sz="3600" dirty="0">
              <a:solidFill>
                <a:schemeClr val="accent6">
                  <a:lumMod val="50000"/>
                </a:schemeClr>
              </a:solidFill>
              <a:latin typeface="Miriam Fixed" panose="020B0509050101010101" pitchFamily="49" charset="-79"/>
              <a:cs typeface="Miriam Fixed" panose="020B0509050101010101" pitchFamily="49" charset="-79"/>
            </a:endParaRP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167091AA-1657-6067-FB8B-C27DA94762E2}"/>
              </a:ext>
            </a:extLst>
          </p:cNvPr>
          <p:cNvCxnSpPr>
            <a:cxnSpLocks/>
            <a:endCxn id="15" idx="2"/>
          </p:cNvCxnSpPr>
          <p:nvPr/>
        </p:nvCxnSpPr>
        <p:spPr>
          <a:xfrm rot="10800000">
            <a:off x="2964791" y="2476924"/>
            <a:ext cx="2937562" cy="197052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AF07AC6-5626-F7FC-EBE8-B004DC7604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869740"/>
              </p:ext>
            </p:extLst>
          </p:nvPr>
        </p:nvGraphicFramePr>
        <p:xfrm>
          <a:off x="1005959" y="1803238"/>
          <a:ext cx="3917665" cy="67368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83533">
                  <a:extLst>
                    <a:ext uri="{9D8B030D-6E8A-4147-A177-3AD203B41FA5}">
                      <a16:colId xmlns:a16="http://schemas.microsoft.com/office/drawing/2014/main" val="1833734973"/>
                    </a:ext>
                  </a:extLst>
                </a:gridCol>
                <a:gridCol w="783533">
                  <a:extLst>
                    <a:ext uri="{9D8B030D-6E8A-4147-A177-3AD203B41FA5}">
                      <a16:colId xmlns:a16="http://schemas.microsoft.com/office/drawing/2014/main" val="1655350596"/>
                    </a:ext>
                  </a:extLst>
                </a:gridCol>
                <a:gridCol w="783533">
                  <a:extLst>
                    <a:ext uri="{9D8B030D-6E8A-4147-A177-3AD203B41FA5}">
                      <a16:colId xmlns:a16="http://schemas.microsoft.com/office/drawing/2014/main" val="2001210158"/>
                    </a:ext>
                  </a:extLst>
                </a:gridCol>
                <a:gridCol w="783533">
                  <a:extLst>
                    <a:ext uri="{9D8B030D-6E8A-4147-A177-3AD203B41FA5}">
                      <a16:colId xmlns:a16="http://schemas.microsoft.com/office/drawing/2014/main" val="943745345"/>
                    </a:ext>
                  </a:extLst>
                </a:gridCol>
                <a:gridCol w="783533">
                  <a:extLst>
                    <a:ext uri="{9D8B030D-6E8A-4147-A177-3AD203B41FA5}">
                      <a16:colId xmlns:a16="http://schemas.microsoft.com/office/drawing/2014/main" val="3306409355"/>
                    </a:ext>
                  </a:extLst>
                </a:gridCol>
              </a:tblGrid>
              <a:tr h="30792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Value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Operator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Value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Operator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Value</a:t>
                      </a:r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371660"/>
                  </a:ext>
                </a:extLst>
              </a:tr>
              <a:tr h="3079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2</a:t>
                      </a:r>
                      <a:endParaRPr lang="en-IL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*</a:t>
                      </a:r>
                      <a:endParaRPr lang="en-IL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2</a:t>
                      </a:r>
                      <a:endParaRPr lang="en-IL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259388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9FC95C8-89C5-99A9-D4A4-B455426C0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372018"/>
              </p:ext>
            </p:extLst>
          </p:nvPr>
        </p:nvGraphicFramePr>
        <p:xfrm>
          <a:off x="8270143" y="2510272"/>
          <a:ext cx="810936" cy="67368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10936">
                  <a:extLst>
                    <a:ext uri="{9D8B030D-6E8A-4147-A177-3AD203B41FA5}">
                      <a16:colId xmlns:a16="http://schemas.microsoft.com/office/drawing/2014/main" val="1833734973"/>
                    </a:ext>
                  </a:extLst>
                </a:gridCol>
              </a:tblGrid>
              <a:tr h="30792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Value</a:t>
                      </a:r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371660"/>
                  </a:ext>
                </a:extLst>
              </a:tr>
              <a:tr h="3079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259388"/>
                  </a:ext>
                </a:extLst>
              </a:tr>
            </a:tbl>
          </a:graphicData>
        </a:graphic>
      </p:graphicFrame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02641960-E41A-43D8-EA55-5D8A6891CD8C}"/>
              </a:ext>
            </a:extLst>
          </p:cNvPr>
          <p:cNvCxnSpPr>
            <a:cxnSpLocks/>
            <a:stCxn id="16" idx="2"/>
            <a:endCxn id="19" idx="1"/>
          </p:cNvCxnSpPr>
          <p:nvPr/>
        </p:nvCxnSpPr>
        <p:spPr>
          <a:xfrm rot="16200000" flipH="1">
            <a:off x="7330181" y="1907152"/>
            <a:ext cx="1107440" cy="77248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8C8CB54A-0E3E-2706-51A6-1994E7044FA5}"/>
              </a:ext>
            </a:extLst>
          </p:cNvPr>
          <p:cNvCxnSpPr>
            <a:cxnSpLocks/>
            <a:stCxn id="19" idx="2"/>
            <a:endCxn id="28" idx="0"/>
          </p:cNvCxnSpPr>
          <p:nvPr/>
        </p:nvCxnSpPr>
        <p:spPr>
          <a:xfrm rot="5400000">
            <a:off x="6773104" y="2108378"/>
            <a:ext cx="826928" cy="297808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A5E373F-18EF-9512-DA8B-1AF76A901329}"/>
              </a:ext>
            </a:extLst>
          </p:cNvPr>
          <p:cNvSpPr/>
          <p:nvPr/>
        </p:nvSpPr>
        <p:spPr>
          <a:xfrm>
            <a:off x="3331828" y="4010885"/>
            <a:ext cx="4731391" cy="124157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Miriam Fixed" panose="020B0509050101010101" pitchFamily="49" charset="-79"/>
                <a:cs typeface="Miriam Fixed" panose="020B0509050101010101" pitchFamily="49" charset="-79"/>
              </a:rPr>
              <a:t>print(3)</a:t>
            </a:r>
            <a:endParaRPr lang="en-IL" sz="3600" dirty="0">
              <a:solidFill>
                <a:schemeClr val="accent6">
                  <a:lumMod val="50000"/>
                </a:schemeClr>
              </a:solidFill>
              <a:latin typeface="Miriam Fixed" panose="020B0509050101010101" pitchFamily="49" charset="-79"/>
              <a:cs typeface="Miriam Fixed" panose="020B0509050101010101" pitchFamily="49" charset="-79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47120C2-1C19-BF1F-AAA2-D306D436E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092050"/>
              </p:ext>
            </p:extLst>
          </p:nvPr>
        </p:nvGraphicFramePr>
        <p:xfrm>
          <a:off x="6281255" y="1065989"/>
          <a:ext cx="2432808" cy="67368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10936">
                  <a:extLst>
                    <a:ext uri="{9D8B030D-6E8A-4147-A177-3AD203B41FA5}">
                      <a16:colId xmlns:a16="http://schemas.microsoft.com/office/drawing/2014/main" val="1833734973"/>
                    </a:ext>
                  </a:extLst>
                </a:gridCol>
                <a:gridCol w="810936">
                  <a:extLst>
                    <a:ext uri="{9D8B030D-6E8A-4147-A177-3AD203B41FA5}">
                      <a16:colId xmlns:a16="http://schemas.microsoft.com/office/drawing/2014/main" val="1655350596"/>
                    </a:ext>
                  </a:extLst>
                </a:gridCol>
                <a:gridCol w="810936">
                  <a:extLst>
                    <a:ext uri="{9D8B030D-6E8A-4147-A177-3AD203B41FA5}">
                      <a16:colId xmlns:a16="http://schemas.microsoft.com/office/drawing/2014/main" val="2001210158"/>
                    </a:ext>
                  </a:extLst>
                </a:gridCol>
              </a:tblGrid>
              <a:tr h="30792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Value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Operator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Value</a:t>
                      </a:r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371660"/>
                  </a:ext>
                </a:extLst>
              </a:tr>
              <a:tr h="3079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4</a:t>
                      </a:r>
                      <a:endParaRPr lang="en-IL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259388"/>
                  </a:ext>
                </a:extLst>
              </a:tr>
            </a:tbl>
          </a:graphicData>
        </a:graphic>
      </p:graphicFrame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976D3B03-B264-E87E-086D-A97FBE875B93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4923624" y="1402831"/>
            <a:ext cx="1357631" cy="73724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36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1DDC9-62BB-67B1-AE0C-77443686E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Precedence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122A88-1536-D5EB-231E-52DD61E2B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4" y="659301"/>
            <a:ext cx="5638341" cy="58335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A272A8A-183C-9251-D886-BB71F344EA7C}"/>
              </a:ext>
            </a:extLst>
          </p:cNvPr>
          <p:cNvSpPr/>
          <p:nvPr/>
        </p:nvSpPr>
        <p:spPr>
          <a:xfrm>
            <a:off x="5739653" y="1662695"/>
            <a:ext cx="661147" cy="322169"/>
          </a:xfrm>
          <a:prstGeom prst="rect">
            <a:avLst/>
          </a:prstGeom>
          <a:solidFill>
            <a:srgbClr val="F3F90F">
              <a:alpha val="1215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0917A-DD27-D349-480B-1C47E29D22DC}"/>
              </a:ext>
            </a:extLst>
          </p:cNvPr>
          <p:cNvSpPr/>
          <p:nvPr/>
        </p:nvSpPr>
        <p:spPr>
          <a:xfrm>
            <a:off x="5865159" y="2715675"/>
            <a:ext cx="1091453" cy="322169"/>
          </a:xfrm>
          <a:prstGeom prst="rect">
            <a:avLst/>
          </a:prstGeom>
          <a:solidFill>
            <a:srgbClr val="F3F90F">
              <a:alpha val="1215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E95C84-DC76-64F2-79CA-03FDF1534816}"/>
              </a:ext>
            </a:extLst>
          </p:cNvPr>
          <p:cNvSpPr/>
          <p:nvPr/>
        </p:nvSpPr>
        <p:spPr>
          <a:xfrm>
            <a:off x="5865159" y="3170935"/>
            <a:ext cx="1091453" cy="322169"/>
          </a:xfrm>
          <a:prstGeom prst="rect">
            <a:avLst/>
          </a:prstGeom>
          <a:solidFill>
            <a:srgbClr val="F3F90F">
              <a:alpha val="1215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397D7EB-70BF-A97B-CD7A-D773DB4CAD24}"/>
              </a:ext>
            </a:extLst>
          </p:cNvPr>
          <p:cNvSpPr/>
          <p:nvPr/>
        </p:nvSpPr>
        <p:spPr>
          <a:xfrm>
            <a:off x="212110" y="2004676"/>
            <a:ext cx="2038031" cy="710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Miriam Fixed" panose="020B0509050101010101" pitchFamily="49" charset="-79"/>
                <a:cs typeface="Miriam Fixed" panose="020B0509050101010101" pitchFamily="49" charset="-79"/>
              </a:rPr>
              <a:t>1+2*2</a:t>
            </a:r>
            <a:endParaRPr lang="en-IL" sz="3600" dirty="0">
              <a:solidFill>
                <a:schemeClr val="accent6">
                  <a:lumMod val="50000"/>
                </a:schemeClr>
              </a:solidFill>
              <a:latin typeface="Miriam Fixed" panose="020B0509050101010101" pitchFamily="49" charset="-79"/>
              <a:cs typeface="Miriam Fixed" panose="020B0509050101010101" pitchFamily="49" charset="-79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3439E1D-8177-156F-7C8C-3029215D2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098419"/>
              </p:ext>
            </p:extLst>
          </p:nvPr>
        </p:nvGraphicFramePr>
        <p:xfrm>
          <a:off x="3375413" y="2023332"/>
          <a:ext cx="810936" cy="67368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10936">
                  <a:extLst>
                    <a:ext uri="{9D8B030D-6E8A-4147-A177-3AD203B41FA5}">
                      <a16:colId xmlns:a16="http://schemas.microsoft.com/office/drawing/2014/main" val="1833734973"/>
                    </a:ext>
                  </a:extLst>
                </a:gridCol>
              </a:tblGrid>
              <a:tr h="30792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Value</a:t>
                      </a:r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371660"/>
                  </a:ext>
                </a:extLst>
              </a:tr>
              <a:tr h="3079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259388"/>
                  </a:ext>
                </a:extLst>
              </a:tr>
            </a:tbl>
          </a:graphicData>
        </a:graphic>
      </p:graphicFrame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676DA6D1-C975-BA62-B2D5-81FD7D880C4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2250141" y="2360174"/>
            <a:ext cx="1125272" cy="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7B69A77-5544-0493-F4A7-4D76C6EB5AA1}"/>
              </a:ext>
            </a:extLst>
          </p:cNvPr>
          <p:cNvSpPr/>
          <p:nvPr/>
        </p:nvSpPr>
        <p:spPr>
          <a:xfrm>
            <a:off x="256933" y="3493104"/>
            <a:ext cx="2217326" cy="710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Miriam Fixed" panose="020B0509050101010101" pitchFamily="49" charset="-79"/>
                <a:cs typeface="Miriam Fixed" panose="020B0509050101010101" pitchFamily="49" charset="-79"/>
              </a:rPr>
              <a:t>(1+2)*2</a:t>
            </a:r>
            <a:endParaRPr lang="en-IL" sz="3600" dirty="0">
              <a:solidFill>
                <a:schemeClr val="accent6">
                  <a:lumMod val="50000"/>
                </a:schemeClr>
              </a:solidFill>
              <a:latin typeface="Miriam Fixed" panose="020B0509050101010101" pitchFamily="49" charset="-79"/>
              <a:cs typeface="Miriam Fixed" panose="020B0509050101010101" pitchFamily="49" charset="-79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93BE96C-7A56-4590-9A5A-599019070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97376"/>
              </p:ext>
            </p:extLst>
          </p:nvPr>
        </p:nvGraphicFramePr>
        <p:xfrm>
          <a:off x="3420236" y="3511760"/>
          <a:ext cx="810936" cy="67368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10936">
                  <a:extLst>
                    <a:ext uri="{9D8B030D-6E8A-4147-A177-3AD203B41FA5}">
                      <a16:colId xmlns:a16="http://schemas.microsoft.com/office/drawing/2014/main" val="1833734973"/>
                    </a:ext>
                  </a:extLst>
                </a:gridCol>
              </a:tblGrid>
              <a:tr h="30792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Value</a:t>
                      </a:r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371660"/>
                  </a:ext>
                </a:extLst>
              </a:tr>
              <a:tr h="3079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259388"/>
                  </a:ext>
                </a:extLst>
              </a:tr>
            </a:tbl>
          </a:graphicData>
        </a:graphic>
      </p:graphicFrame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EF390176-938E-6364-C7F5-FDA15ECA79A7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2474259" y="3848602"/>
            <a:ext cx="945977" cy="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55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E834A-E9BA-4090-1D71-5C8E5C63F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  <a:endParaRPr lang="en-IL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A69D67-EF0A-1967-9277-7C254B5E1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367260"/>
              </p:ext>
            </p:extLst>
          </p:nvPr>
        </p:nvGraphicFramePr>
        <p:xfrm>
          <a:off x="2032000" y="1595429"/>
          <a:ext cx="8127999" cy="388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265">
                  <a:extLst>
                    <a:ext uri="{9D8B030D-6E8A-4147-A177-3AD203B41FA5}">
                      <a16:colId xmlns:a16="http://schemas.microsoft.com/office/drawing/2014/main" val="3580280711"/>
                    </a:ext>
                  </a:extLst>
                </a:gridCol>
                <a:gridCol w="2240924">
                  <a:extLst>
                    <a:ext uri="{9D8B030D-6E8A-4147-A177-3AD203B41FA5}">
                      <a16:colId xmlns:a16="http://schemas.microsoft.com/office/drawing/2014/main" val="2146667872"/>
                    </a:ext>
                  </a:extLst>
                </a:gridCol>
                <a:gridCol w="4544810">
                  <a:extLst>
                    <a:ext uri="{9D8B030D-6E8A-4147-A177-3AD203B41FA5}">
                      <a16:colId xmlns:a16="http://schemas.microsoft.com/office/drawing/2014/main" val="368884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Priority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600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  <a:endParaRPr lang="en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Parentheses (</a:t>
                      </a:r>
                      <a:r>
                        <a:rPr lang="he-IL" dirty="0"/>
                        <a:t>סוגריים</a:t>
                      </a:r>
                      <a:r>
                        <a:rPr lang="en-US" dirty="0"/>
                        <a:t>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170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**</a:t>
                      </a:r>
                      <a:endParaRPr lang="en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Power (</a:t>
                      </a:r>
                      <a:r>
                        <a:rPr lang="he-IL" dirty="0"/>
                        <a:t>חזקה</a:t>
                      </a:r>
                      <a:r>
                        <a:rPr lang="en-US" dirty="0"/>
                        <a:t>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399619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en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Multiplication (</a:t>
                      </a:r>
                      <a:r>
                        <a:rPr lang="he-IL" dirty="0"/>
                        <a:t>כפל</a:t>
                      </a:r>
                      <a:r>
                        <a:rPr lang="en-US" dirty="0"/>
                        <a:t>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4611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</a:t>
                      </a:r>
                      <a:endParaRPr lang="en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Division (</a:t>
                      </a:r>
                      <a:r>
                        <a:rPr lang="he-IL" dirty="0"/>
                        <a:t>חלוקה</a:t>
                      </a:r>
                      <a:r>
                        <a:rPr lang="en-US" dirty="0"/>
                        <a:t>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0224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//</a:t>
                      </a:r>
                      <a:endParaRPr lang="en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Floor division (</a:t>
                      </a:r>
                      <a:r>
                        <a:rPr lang="he-IL" dirty="0"/>
                        <a:t>חלוקת שלמים</a:t>
                      </a:r>
                      <a:r>
                        <a:rPr lang="en-US" dirty="0"/>
                        <a:t>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53045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%</a:t>
                      </a:r>
                      <a:endParaRPr lang="en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Modulo (</a:t>
                      </a:r>
                      <a:r>
                        <a:rPr lang="he-IL" dirty="0"/>
                        <a:t>שארית</a:t>
                      </a:r>
                      <a:r>
                        <a:rPr lang="en-US" dirty="0"/>
                        <a:t>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77875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  <a:endParaRPr lang="en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Addition (</a:t>
                      </a:r>
                      <a:r>
                        <a:rPr lang="he-IL" dirty="0"/>
                        <a:t>חיבור</a:t>
                      </a:r>
                      <a:r>
                        <a:rPr lang="en-US" dirty="0"/>
                        <a:t>)</a:t>
                      </a:r>
                    </a:p>
                    <a:p>
                      <a:r>
                        <a:rPr lang="en-US" dirty="0"/>
                        <a:t>Or</a:t>
                      </a:r>
                    </a:p>
                    <a:p>
                      <a:r>
                        <a:rPr lang="en-US" dirty="0" err="1"/>
                        <a:t>Contatenation</a:t>
                      </a:r>
                      <a:r>
                        <a:rPr lang="en-US" dirty="0"/>
                        <a:t> (</a:t>
                      </a:r>
                      <a:r>
                        <a:rPr lang="he-IL" dirty="0"/>
                        <a:t>שרשור מחרוזות</a:t>
                      </a:r>
                      <a:r>
                        <a:rPr lang="en-US" dirty="0"/>
                        <a:t>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569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Subtraction (</a:t>
                      </a:r>
                      <a:r>
                        <a:rPr lang="he-IL" dirty="0"/>
                        <a:t>חיסור</a:t>
                      </a:r>
                      <a:r>
                        <a:rPr lang="en-US" dirty="0"/>
                        <a:t>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941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95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2B384-E264-773C-B54D-66E7D0343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– </a:t>
            </a:r>
            <a:r>
              <a:rPr lang="he-IL" dirty="0"/>
              <a:t>סוגים \ טיפוסים</a:t>
            </a:r>
            <a:endParaRPr lang="en-I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4D7BE2-39F5-E185-0EA3-2D7F0D74BB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9315341"/>
              </p:ext>
            </p:extLst>
          </p:nvPr>
        </p:nvGraphicFramePr>
        <p:xfrm>
          <a:off x="2725271" y="2687320"/>
          <a:ext cx="538779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3895">
                  <a:extLst>
                    <a:ext uri="{9D8B030D-6E8A-4147-A177-3AD203B41FA5}">
                      <a16:colId xmlns:a16="http://schemas.microsoft.com/office/drawing/2014/main" val="622083206"/>
                    </a:ext>
                  </a:extLst>
                </a:gridCol>
                <a:gridCol w="2693895">
                  <a:extLst>
                    <a:ext uri="{9D8B030D-6E8A-4147-A177-3AD203B41FA5}">
                      <a16:colId xmlns:a16="http://schemas.microsoft.com/office/drawing/2014/main" val="261566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String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0632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“1”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459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“1+1”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764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1,000,000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“this is also a string”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482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996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6330B-6B80-6293-1522-F203DEF99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  <a:endParaRPr lang="en-IL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53B51B9-EB53-2870-7F44-A6C5A10598AB}"/>
              </a:ext>
            </a:extLst>
          </p:cNvPr>
          <p:cNvSpPr/>
          <p:nvPr/>
        </p:nvSpPr>
        <p:spPr>
          <a:xfrm>
            <a:off x="3375413" y="2145201"/>
            <a:ext cx="2038031" cy="710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Miriam Fixed" panose="020B0509050101010101" pitchFamily="49" charset="-79"/>
                <a:cs typeface="Miriam Fixed" panose="020B0509050101010101" pitchFamily="49" charset="-79"/>
              </a:rPr>
              <a:t>1+1</a:t>
            </a:r>
            <a:endParaRPr lang="en-IL" sz="3600" dirty="0">
              <a:solidFill>
                <a:schemeClr val="accent6">
                  <a:lumMod val="50000"/>
                </a:schemeClr>
              </a:solidFill>
              <a:latin typeface="Miriam Fixed" panose="020B0509050101010101" pitchFamily="49" charset="-79"/>
              <a:cs typeface="Miriam Fixed" panose="020B0509050101010101" pitchFamily="49" charset="-79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EBEF6F-73CA-ADE4-E761-E4AED148B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196305"/>
              </p:ext>
            </p:extLst>
          </p:nvPr>
        </p:nvGraphicFramePr>
        <p:xfrm>
          <a:off x="6538716" y="2163857"/>
          <a:ext cx="810936" cy="67368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10936">
                  <a:extLst>
                    <a:ext uri="{9D8B030D-6E8A-4147-A177-3AD203B41FA5}">
                      <a16:colId xmlns:a16="http://schemas.microsoft.com/office/drawing/2014/main" val="1833734973"/>
                    </a:ext>
                  </a:extLst>
                </a:gridCol>
              </a:tblGrid>
              <a:tr h="30792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Value</a:t>
                      </a:r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371660"/>
                  </a:ext>
                </a:extLst>
              </a:tr>
              <a:tr h="3079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259388"/>
                  </a:ext>
                </a:extLst>
              </a:tr>
            </a:tbl>
          </a:graphicData>
        </a:graphic>
      </p:graphicFrame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B1104402-D8FD-2ED5-6215-F17C3C64BE6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5413444" y="2500699"/>
            <a:ext cx="1125272" cy="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A4A154-C7F3-2CA9-B811-E10E32689711}"/>
              </a:ext>
            </a:extLst>
          </p:cNvPr>
          <p:cNvSpPr/>
          <p:nvPr/>
        </p:nvSpPr>
        <p:spPr>
          <a:xfrm>
            <a:off x="2743200" y="3307950"/>
            <a:ext cx="2670245" cy="710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Miriam Fixed" panose="020B0509050101010101" pitchFamily="49" charset="-79"/>
                <a:cs typeface="Miriam Fixed" panose="020B0509050101010101" pitchFamily="49" charset="-79"/>
              </a:rPr>
              <a:t>“1”+”1”</a:t>
            </a:r>
            <a:endParaRPr lang="en-IL" sz="3600" dirty="0">
              <a:solidFill>
                <a:schemeClr val="accent6">
                  <a:lumMod val="50000"/>
                </a:schemeClr>
              </a:solidFill>
              <a:latin typeface="Miriam Fixed" panose="020B0509050101010101" pitchFamily="49" charset="-79"/>
              <a:cs typeface="Miriam Fixed" panose="020B0509050101010101" pitchFamily="49" charset="-79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5B6E882-3A5A-19B1-9F22-AAD8906B1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947619"/>
              </p:ext>
            </p:extLst>
          </p:nvPr>
        </p:nvGraphicFramePr>
        <p:xfrm>
          <a:off x="6538716" y="3326606"/>
          <a:ext cx="810936" cy="67368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10936">
                  <a:extLst>
                    <a:ext uri="{9D8B030D-6E8A-4147-A177-3AD203B41FA5}">
                      <a16:colId xmlns:a16="http://schemas.microsoft.com/office/drawing/2014/main" val="1833734973"/>
                    </a:ext>
                  </a:extLst>
                </a:gridCol>
              </a:tblGrid>
              <a:tr h="30792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Value</a:t>
                      </a:r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371660"/>
                  </a:ext>
                </a:extLst>
              </a:tr>
              <a:tr h="3079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“11”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259388"/>
                  </a:ext>
                </a:extLst>
              </a:tr>
            </a:tbl>
          </a:graphicData>
        </a:graphic>
      </p:graphicFrame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3326F7F6-EDAA-28C5-6155-3C29AFFF38E9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5413445" y="3663448"/>
            <a:ext cx="1125271" cy="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D89A9CA-5692-C23E-DFB7-856A004816AC}"/>
              </a:ext>
            </a:extLst>
          </p:cNvPr>
          <p:cNvSpPr/>
          <p:nvPr/>
        </p:nvSpPr>
        <p:spPr>
          <a:xfrm>
            <a:off x="3375413" y="4452041"/>
            <a:ext cx="2038031" cy="710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Miriam Fixed" panose="020B0509050101010101" pitchFamily="49" charset="-79"/>
                <a:cs typeface="Miriam Fixed" panose="020B0509050101010101" pitchFamily="49" charset="-79"/>
              </a:rPr>
              <a:t>1+”1”</a:t>
            </a:r>
            <a:endParaRPr lang="en-IL" sz="3600" dirty="0">
              <a:solidFill>
                <a:schemeClr val="accent6">
                  <a:lumMod val="50000"/>
                </a:schemeClr>
              </a:solidFill>
              <a:latin typeface="Miriam Fixed" panose="020B0509050101010101" pitchFamily="49" charset="-79"/>
              <a:cs typeface="Miriam Fixed" panose="020B0509050101010101" pitchFamily="49" charset="-79"/>
            </a:endParaRP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1D33A2EC-5977-AF12-3277-7DACACC35496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413444" y="4807539"/>
            <a:ext cx="1125272" cy="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Graphic 20">
            <a:extLst>
              <a:ext uri="{FF2B5EF4-FFF2-40B4-BE49-F238E27FC236}">
                <a16:creationId xmlns:a16="http://schemas.microsoft.com/office/drawing/2014/main" id="{2FD73DAF-C3F8-CABD-6014-E0B136EA9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8667" y="3867047"/>
            <a:ext cx="1075320" cy="147528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9FD34B5-4590-15A4-2B89-195B53AC7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837" y="5419499"/>
            <a:ext cx="7592485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399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A8CC6-0B67-3BE4-B859-160F10B75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- </a:t>
            </a:r>
            <a:r>
              <a:rPr lang="he-IL" dirty="0"/>
              <a:t>משתנים</a:t>
            </a:r>
            <a:endParaRPr lang="en-IL" dirty="0"/>
          </a:p>
        </p:txBody>
      </p:sp>
      <p:pic>
        <p:nvPicPr>
          <p:cNvPr id="5" name="Content Placeholder 4" descr="Man with mohawk">
            <a:extLst>
              <a:ext uri="{FF2B5EF4-FFF2-40B4-BE49-F238E27FC236}">
                <a16:creationId xmlns:a16="http://schemas.microsoft.com/office/drawing/2014/main" id="{5B60EB57-2B73-337A-EDA3-2CEA78D7EF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25441" y="1690688"/>
            <a:ext cx="1362730" cy="4351338"/>
          </a:xfrm>
        </p:spPr>
      </p:pic>
      <p:pic>
        <p:nvPicPr>
          <p:cNvPr id="8" name="Graphic 7" descr="A friendly robot">
            <a:extLst>
              <a:ext uri="{FF2B5EF4-FFF2-40B4-BE49-F238E27FC236}">
                <a16:creationId xmlns:a16="http://schemas.microsoft.com/office/drawing/2014/main" id="{E9ADC5CE-FBCC-7569-5591-145A6EFB98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51206" y="1527176"/>
            <a:ext cx="4210050" cy="4210050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B9210F07-5EDF-28DC-DE68-CC20E6B16424}"/>
              </a:ext>
            </a:extLst>
          </p:cNvPr>
          <p:cNvSpPr/>
          <p:nvPr/>
        </p:nvSpPr>
        <p:spPr>
          <a:xfrm rot="10800000">
            <a:off x="4257674" y="1966912"/>
            <a:ext cx="2924175" cy="561975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11DC4D-2F96-9D50-5511-CA19D09DFA9E}"/>
              </a:ext>
            </a:extLst>
          </p:cNvPr>
          <p:cNvSpPr txBox="1"/>
          <p:nvPr/>
        </p:nvSpPr>
        <p:spPr>
          <a:xfrm>
            <a:off x="4606717" y="1701563"/>
            <a:ext cx="274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your year of birth?</a:t>
            </a:r>
            <a:endParaRPr lang="en-IL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0639000-A08D-7B1B-CAA9-C213CC0D09A0}"/>
              </a:ext>
            </a:extLst>
          </p:cNvPr>
          <p:cNvSpPr/>
          <p:nvPr/>
        </p:nvSpPr>
        <p:spPr>
          <a:xfrm>
            <a:off x="4257674" y="2668632"/>
            <a:ext cx="2924175" cy="561975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ACFD32-0386-78FE-CF71-51422691ED46}"/>
              </a:ext>
            </a:extLst>
          </p:cNvPr>
          <p:cNvSpPr txBox="1"/>
          <p:nvPr/>
        </p:nvSpPr>
        <p:spPr>
          <a:xfrm>
            <a:off x="4962521" y="2401652"/>
            <a:ext cx="274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1997</a:t>
            </a:r>
            <a:endParaRPr lang="en-IL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3A7A0AFF-34BE-BB22-F7AA-172B9B6A456E}"/>
              </a:ext>
            </a:extLst>
          </p:cNvPr>
          <p:cNvSpPr/>
          <p:nvPr/>
        </p:nvSpPr>
        <p:spPr>
          <a:xfrm rot="10800000">
            <a:off x="4079454" y="4990586"/>
            <a:ext cx="2924175" cy="561975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374CFA-8B96-3F15-9271-0911287360A8}"/>
              </a:ext>
            </a:extLst>
          </p:cNvPr>
          <p:cNvSpPr txBox="1"/>
          <p:nvPr/>
        </p:nvSpPr>
        <p:spPr>
          <a:xfrm>
            <a:off x="4428497" y="4725237"/>
            <a:ext cx="274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are 27 years old</a:t>
            </a:r>
            <a:endParaRPr lang="en-IL" dirty="0"/>
          </a:p>
        </p:txBody>
      </p:sp>
      <p:sp>
        <p:nvSpPr>
          <p:cNvPr id="18" name="Thought Bubble: Cloud 17">
            <a:extLst>
              <a:ext uri="{FF2B5EF4-FFF2-40B4-BE49-F238E27FC236}">
                <a16:creationId xmlns:a16="http://schemas.microsoft.com/office/drawing/2014/main" id="{10921031-DAF5-F575-47C8-FC691CC73DD2}"/>
              </a:ext>
            </a:extLst>
          </p:cNvPr>
          <p:cNvSpPr/>
          <p:nvPr/>
        </p:nvSpPr>
        <p:spPr>
          <a:xfrm>
            <a:off x="9321019" y="195540"/>
            <a:ext cx="2227729" cy="2527856"/>
          </a:xfrm>
          <a:prstGeom prst="cloudCallout">
            <a:avLst>
              <a:gd name="adj1" fmla="val -36125"/>
              <a:gd name="adj2" fmla="val 63176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EFFDF10-A408-E0ED-64A7-6E76C7456DCB}"/>
              </a:ext>
            </a:extLst>
          </p:cNvPr>
          <p:cNvSpPr/>
          <p:nvPr/>
        </p:nvSpPr>
        <p:spPr>
          <a:xfrm rot="10800000">
            <a:off x="4170572" y="3428274"/>
            <a:ext cx="2924175" cy="561975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0F3370-07B8-5133-04B4-D231EBBB6E07}"/>
              </a:ext>
            </a:extLst>
          </p:cNvPr>
          <p:cNvSpPr txBox="1"/>
          <p:nvPr/>
        </p:nvSpPr>
        <p:spPr>
          <a:xfrm>
            <a:off x="4519615" y="3162925"/>
            <a:ext cx="274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year is it now?</a:t>
            </a:r>
            <a:endParaRPr lang="en-IL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56C251C0-70A9-7069-5D6B-BEADAC275ADF}"/>
              </a:ext>
            </a:extLst>
          </p:cNvPr>
          <p:cNvSpPr/>
          <p:nvPr/>
        </p:nvSpPr>
        <p:spPr>
          <a:xfrm>
            <a:off x="4170572" y="4129994"/>
            <a:ext cx="2924175" cy="561975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7E7C6C-6DEE-C152-8D1A-FF20E385BEAD}"/>
              </a:ext>
            </a:extLst>
          </p:cNvPr>
          <p:cNvSpPr txBox="1"/>
          <p:nvPr/>
        </p:nvSpPr>
        <p:spPr>
          <a:xfrm>
            <a:off x="4875419" y="3863014"/>
            <a:ext cx="274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2024</a:t>
            </a:r>
            <a:endParaRPr lang="en-IL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6ED808D-7A85-E894-C734-D757F66A764D}"/>
              </a:ext>
            </a:extLst>
          </p:cNvPr>
          <p:cNvSpPr/>
          <p:nvPr/>
        </p:nvSpPr>
        <p:spPr>
          <a:xfrm>
            <a:off x="9162439" y="505961"/>
            <a:ext cx="995082" cy="55992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1997</a:t>
            </a:r>
            <a:endParaRPr lang="en-IL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B548031-A519-7C5C-3F67-012310A7BDA5}"/>
              </a:ext>
            </a:extLst>
          </p:cNvPr>
          <p:cNvSpPr/>
          <p:nvPr/>
        </p:nvSpPr>
        <p:spPr>
          <a:xfrm>
            <a:off x="10553666" y="494468"/>
            <a:ext cx="995082" cy="55992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2024</a:t>
            </a:r>
            <a:endParaRPr lang="en-IL" dirty="0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2940ED41-BC7C-5CE6-14E6-E31339B83930}"/>
              </a:ext>
            </a:extLst>
          </p:cNvPr>
          <p:cNvSpPr/>
          <p:nvPr/>
        </p:nvSpPr>
        <p:spPr>
          <a:xfrm rot="19627706">
            <a:off x="9831476" y="955068"/>
            <a:ext cx="281873" cy="6324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25601B73-6A37-110C-B1B3-363D8DFFEF00}"/>
              </a:ext>
            </a:extLst>
          </p:cNvPr>
          <p:cNvSpPr/>
          <p:nvPr/>
        </p:nvSpPr>
        <p:spPr>
          <a:xfrm rot="891371">
            <a:off x="10531996" y="955068"/>
            <a:ext cx="281873" cy="6324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7B6B7D6-62D3-9108-948C-5C447E8C3723}"/>
              </a:ext>
            </a:extLst>
          </p:cNvPr>
          <p:cNvSpPr/>
          <p:nvPr/>
        </p:nvSpPr>
        <p:spPr>
          <a:xfrm>
            <a:off x="9764865" y="1629962"/>
            <a:ext cx="995082" cy="5599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27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8538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20" grpId="0" animBg="1"/>
      <p:bldP spid="21" grpId="0"/>
      <p:bldP spid="22" grpId="0" animBg="1"/>
      <p:bldP spid="23" grpId="0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7530E-0CEB-EB61-50C9-CF986BE9C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E40E18-FBD4-910E-21BE-44F8BC0D1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094" y="2429448"/>
            <a:ext cx="7268589" cy="31436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AB01B0-BE57-E37C-6B0F-1680BD87632E}"/>
              </a:ext>
            </a:extLst>
          </p:cNvPr>
          <p:cNvSpPr/>
          <p:nvPr/>
        </p:nvSpPr>
        <p:spPr>
          <a:xfrm>
            <a:off x="533400" y="2366682"/>
            <a:ext cx="7651376" cy="932330"/>
          </a:xfrm>
          <a:prstGeom prst="rect">
            <a:avLst/>
          </a:prstGeom>
          <a:solidFill>
            <a:srgbClr val="F3F90F">
              <a:alpha val="1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FB7131-105C-DAF3-AAAE-B937D54F48DE}"/>
              </a:ext>
            </a:extLst>
          </p:cNvPr>
          <p:cNvSpPr txBox="1"/>
          <p:nvPr/>
        </p:nvSpPr>
        <p:spPr>
          <a:xfrm>
            <a:off x="916187" y="2509681"/>
            <a:ext cx="1658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Creating variables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4674AC-8291-CFA8-BDDA-C146980B3836}"/>
              </a:ext>
            </a:extLst>
          </p:cNvPr>
          <p:cNvSpPr/>
          <p:nvPr/>
        </p:nvSpPr>
        <p:spPr>
          <a:xfrm>
            <a:off x="533400" y="3361778"/>
            <a:ext cx="9121588" cy="675994"/>
          </a:xfrm>
          <a:prstGeom prst="rect">
            <a:avLst/>
          </a:prstGeom>
          <a:solidFill>
            <a:srgbClr val="F3F90F">
              <a:alpha val="1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106194-165F-EBE2-EEF2-F9DF8FFF1E11}"/>
              </a:ext>
            </a:extLst>
          </p:cNvPr>
          <p:cNvSpPr txBox="1"/>
          <p:nvPr/>
        </p:nvSpPr>
        <p:spPr>
          <a:xfrm>
            <a:off x="878542" y="3354961"/>
            <a:ext cx="1658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variables</a:t>
            </a:r>
            <a:endParaRPr lang="en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EE44A6-73D7-13C5-D24B-C24A718E8834}"/>
              </a:ext>
            </a:extLst>
          </p:cNvPr>
          <p:cNvSpPr/>
          <p:nvPr/>
        </p:nvSpPr>
        <p:spPr>
          <a:xfrm>
            <a:off x="533400" y="4088341"/>
            <a:ext cx="9121588" cy="958787"/>
          </a:xfrm>
          <a:prstGeom prst="rect">
            <a:avLst/>
          </a:prstGeom>
          <a:solidFill>
            <a:srgbClr val="F3F90F">
              <a:alpha val="1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150348-A743-0131-F01B-8E1F1CE41EB8}"/>
              </a:ext>
            </a:extLst>
          </p:cNvPr>
          <p:cNvSpPr txBox="1"/>
          <p:nvPr/>
        </p:nvSpPr>
        <p:spPr>
          <a:xfrm>
            <a:off x="878542" y="4048529"/>
            <a:ext cx="1658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Updating variables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17351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8223D-563E-EB7B-C5DD-386737EFD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65412"/>
          </a:xfrm>
        </p:spPr>
        <p:txBody>
          <a:bodyPr/>
          <a:lstStyle/>
          <a:p>
            <a:r>
              <a:rPr lang="en-US" dirty="0"/>
              <a:t>Variable naming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AE8F40-B0DE-CC89-DBDA-08527DADD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Starts with letter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Use letters, ‘_’ (underscore) or numbers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Any length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Lower case or upper case letters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u="sng" dirty="0"/>
              <a:t>best practice</a:t>
            </a:r>
            <a:r>
              <a:rPr lang="en-US" dirty="0"/>
              <a:t> in python is to use lowercase letters separated by ‘_’ for variable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FAF2B3-FA6F-9F80-CFF7-E859BC229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204" y="1349723"/>
            <a:ext cx="7735380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31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EFC397-9352-4D3B-A465-C87E65847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13271"/>
            <a:ext cx="3991532" cy="981212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7D9EA0-EE93-B2C7-93B5-3537013FB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425" y="2485893"/>
            <a:ext cx="2934109" cy="94310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5C43D84-561A-3CDA-0AC8-87C019B5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it …</a:t>
            </a:r>
            <a:endParaRPr lang="en-I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7060C6-79B5-F2A4-B23C-61511F598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442629"/>
            <a:ext cx="2676899" cy="1095528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53EB0C-7040-EEFA-F802-C49E7AC84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8597" y="4943276"/>
            <a:ext cx="2353003" cy="1286054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30F3B55-80DC-4D53-50C3-A4F4DA974C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459" y="1012960"/>
            <a:ext cx="3267531" cy="1362265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610AD33-8D36-759F-464D-E8182C49A4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2243" y="2609075"/>
            <a:ext cx="2829320" cy="1381318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1D51413-4070-C5D3-CD63-A3D2EE4AD9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2459" y="4226145"/>
            <a:ext cx="3038899" cy="1819529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4211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229</Words>
  <Application>Microsoft Office PowerPoint</Application>
  <PresentationFormat>Widescreen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Miriam Fixed</vt:lpstr>
      <vt:lpstr>Office Theme</vt:lpstr>
      <vt:lpstr>Python expressions and variables</vt:lpstr>
      <vt:lpstr>Evaluation</vt:lpstr>
      <vt:lpstr>Precedence</vt:lpstr>
      <vt:lpstr>Precedence</vt:lpstr>
      <vt:lpstr>Reminder</vt:lpstr>
      <vt:lpstr>Types – סוגים \ טיפוסים</vt:lpstr>
      <vt:lpstr>Context</vt:lpstr>
      <vt:lpstr>Variables - משתנים</vt:lpstr>
      <vt:lpstr>Variables</vt:lpstr>
      <vt:lpstr>Variable naming</vt:lpstr>
      <vt:lpstr>Try it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expressions and variables</dc:title>
  <dc:creator>gal weiss</dc:creator>
  <cp:lastModifiedBy>gal weiss</cp:lastModifiedBy>
  <cp:revision>1</cp:revision>
  <dcterms:created xsi:type="dcterms:W3CDTF">2024-01-08T01:52:47Z</dcterms:created>
  <dcterms:modified xsi:type="dcterms:W3CDTF">2026-09-15T22:22:39Z</dcterms:modified>
</cp:coreProperties>
</file>